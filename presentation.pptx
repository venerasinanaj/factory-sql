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C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128016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6400" b="1" i="0">
                <a:solidFill>
                  <a:srgbClr val="ECE2D0"/>
                </a:solidFill>
                <a:latin typeface="Trebuchet MS"/>
              </a:rPr>
              <a:t>Sweet Factory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48840"/>
            <a:ext cx="6400800" cy="54864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0" i="0">
                <a:solidFill>
                  <a:srgbClr val="A26769"/>
                </a:solidFill>
                <a:latin typeface="Trebuchet MS"/>
              </a:rPr>
              <a:t>Base de données SQL — Projet final M1 DS2E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700" b="0" i="0">
                <a:solidFill>
                  <a:srgbClr val="ECE2D0"/>
                </a:solidFill>
                <a:latin typeface="Calibri"/>
              </a:rPr>
              <a:t>Venera SINANAJ &amp; Chimène NOUICER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0" i="0">
                <a:solidFill>
                  <a:srgbClr val="A26769"/>
                </a:solidFill>
                <a:latin typeface="Calibri"/>
              </a:rPr>
              <a:t>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4480560"/>
            <a:ext cx="91440" cy="914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7" y="4480560"/>
            <a:ext cx="91440" cy="914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8576" y="4480560"/>
            <a:ext cx="91440" cy="914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9744" y="4480560"/>
            <a:ext cx="91440" cy="914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10912" y="4480560"/>
            <a:ext cx="91440" cy="914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600" b="1" i="0">
                <a:solidFill>
                  <a:srgbClr val="3D1C02"/>
                </a:solidFill>
                <a:latin typeface="Trebuchet MS"/>
              </a:rPr>
              <a:t>Contexte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3D1C02"/>
                </a:solidFill>
                <a:latin typeface="Calibri"/>
              </a:rPr>
              <a:t>🍫  Confiserie française — chocolats, bonbons, biscuits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3D1C02"/>
                </a:solidFill>
                <a:latin typeface="Calibri"/>
              </a:rPr>
              <a:t>👥  Clients : particuliers ET entreprises (épiceries, restaurants, revendeurs)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3D1C02"/>
                </a:solidFill>
                <a:latin typeface="Calibri"/>
              </a:rPr>
              <a:t>⚠️  Problème : gérer commandes, stocks et production sans outil centralisé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3D1C02"/>
                </a:solidFill>
                <a:latin typeface="Calibri"/>
              </a:rPr>
              <a:t>✅  Solution : une base de données SQL complète et opérationnelle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234440"/>
            <a:ext cx="2834640" cy="3383280"/>
          </a:xfrm>
          <a:prstGeom prst="rect">
            <a:avLst/>
          </a:prstGeom>
          <a:solidFill>
            <a:srgbClr val="3D1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ECE2D0"/>
                </a:solidFill>
                <a:latin typeface="Trebuchet MS"/>
              </a:rPr>
              <a:t>Sweet
Factory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4251960"/>
            <a:ext cx="2834640" cy="3657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4251960"/>
            <a:ext cx="28346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ECE2D0"/>
                </a:solidFill>
                <a:latin typeface="Calibri"/>
              </a:rPr>
              <a:t>✦ Confiserie Française 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400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600" b="1" i="0">
                <a:solidFill>
                  <a:srgbClr val="3D1C02"/>
                </a:solidFill>
                <a:latin typeface="Trebuchet MS"/>
              </a:rPr>
              <a:t>À qui ça sert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560320" cy="27432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2377439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700" b="1" i="0">
                <a:solidFill>
                  <a:srgbClr val="ECE2D0"/>
                </a:solidFill>
                <a:latin typeface="Trebuchet MS"/>
              </a:rPr>
              <a:t>👤 Gestionnaire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2011679" cy="18288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2377439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CE2D0"/>
                </a:solidFill>
                <a:latin typeface="Calibri"/>
              </a:rPr>
              <a:t>Suivi des commandes,
statuts et clients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17320"/>
            <a:ext cx="2560320" cy="2743200"/>
          </a:xfrm>
          <a:prstGeom prst="rect">
            <a:avLst/>
          </a:prstGeom>
          <a:solidFill>
            <a:srgbClr val="3D1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377439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700" b="1" i="0">
                <a:solidFill>
                  <a:srgbClr val="ECE2D0"/>
                </a:solidFill>
                <a:latin typeface="Trebuchet MS"/>
              </a:rPr>
              <a:t>📦 Responsable stocks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331720"/>
            <a:ext cx="2011679" cy="18288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80"/>
            <a:ext cx="2377439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CE2D0"/>
                </a:solidFill>
                <a:latin typeface="Calibri"/>
              </a:rPr>
              <a:t>Alertes ingrédients
et produits finis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2560320" cy="27432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45920"/>
            <a:ext cx="2377439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700" b="1" i="0">
                <a:solidFill>
                  <a:srgbClr val="ECE2D0"/>
                </a:solidFill>
                <a:latin typeface="Trebuchet MS"/>
              </a:rPr>
              <a:t>📊 Direction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331720"/>
            <a:ext cx="2011679" cy="18288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68880"/>
            <a:ext cx="2377439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CE2D0"/>
                </a:solidFill>
                <a:latin typeface="Calibri"/>
              </a:rPr>
              <a:t>CA mensuel, ventes,
analyses avancées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82296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ECE2D0"/>
                </a:solidFill>
                <a:latin typeface="Trebuchet MS"/>
              </a:rPr>
              <a:t>9 tables · 2 vues · 5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106424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particulier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72184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35607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commande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01367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64791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produit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30551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093975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ingredient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59735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23159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stock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143000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632" y="1106424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entreprise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472184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0632" y="1435607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ligne_commande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801367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1764791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stock_produit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2130551"/>
            <a:ext cx="82296" cy="8229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2093975"/>
            <a:ext cx="1828800" cy="256032"/>
          </a:xfrm>
          <a:prstGeom prst="rect">
            <a:avLst/>
          </a:prstGeom>
          <a:noFill/>
        </p:spPr>
        <p:txBody>
          <a:bodyPr wrap="square" lIns="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recette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1143000"/>
            <a:ext cx="201168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188720"/>
            <a:ext cx="20116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600" b="1" i="0">
                <a:solidFill>
                  <a:srgbClr val="ECE2D0"/>
                </a:solidFill>
                <a:latin typeface="Trebuchet MS"/>
              </a:rPr>
              <a:t>354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673352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ECE2D0"/>
                </a:solidFill>
                <a:latin typeface="Calibri"/>
              </a:rPr>
              <a:t>commandes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85432" y="1143000"/>
            <a:ext cx="2011680" cy="914400"/>
          </a:xfrm>
          <a:prstGeom prst="rect">
            <a:avLst/>
          </a:prstGeom>
          <a:solidFill>
            <a:srgbClr val="3D1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2" y="1188720"/>
            <a:ext cx="20116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600" b="1" i="0">
                <a:solidFill>
                  <a:srgbClr val="ECE2D0"/>
                </a:solidFill>
                <a:latin typeface="Trebuchet MS"/>
              </a:rPr>
              <a:t>1 096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1673352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ECE2D0"/>
                </a:solidFill>
                <a:latin typeface="Calibri"/>
              </a:rPr>
              <a:t>lignes de commande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221991"/>
            <a:ext cx="2011680" cy="914400"/>
          </a:xfrm>
          <a:prstGeom prst="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2267711"/>
            <a:ext cx="20116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600" b="1" i="0">
                <a:solidFill>
                  <a:srgbClr val="ECE2D0"/>
                </a:solidFill>
                <a:latin typeface="Trebuchet MS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752344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ECE2D0"/>
                </a:solidFill>
                <a:latin typeface="Calibri"/>
              </a:rPr>
              <a:t>clients particuliers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85432" y="2221991"/>
            <a:ext cx="2011680" cy="914400"/>
          </a:xfrm>
          <a:prstGeom prst="rect">
            <a:avLst/>
          </a:prstGeom>
          <a:solidFill>
            <a:srgbClr val="4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85432" y="2267711"/>
            <a:ext cx="20116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600" b="1" i="0">
                <a:solidFill>
                  <a:srgbClr val="ECE2D0"/>
                </a:solidFill>
                <a:latin typeface="Trebuchet MS"/>
              </a:rPr>
              <a:t>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2752344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ECE2D0"/>
                </a:solidFill>
                <a:latin typeface="Calibri"/>
              </a:rPr>
              <a:t>produits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2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0" i="1">
                <a:solidFill>
                  <a:srgbClr val="A26769"/>
                </a:solidFill>
                <a:latin typeface="Calibri"/>
              </a:rPr>
              <a:t>Vues : commande_detail  ·  stock_alerte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82296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ECE2D0"/>
                </a:solidFill>
                <a:latin typeface="Trebuchet MS"/>
              </a:rPr>
              <a:t>Modèle Entité-Relation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286000" cy="5303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2860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1" i="0">
                <a:solidFill>
                  <a:srgbClr val="ECE2D0"/>
                </a:solidFill>
                <a:latin typeface="Calibri"/>
              </a:rPr>
              <a:t>commande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34440"/>
            <a:ext cx="4572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0" i="0">
                <a:solidFill>
                  <a:srgbClr val="6D2E46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34440"/>
            <a:ext cx="3474720" cy="530352"/>
          </a:xfrm>
          <a:prstGeom prst="rect">
            <a:avLst/>
          </a:prstGeom>
          <a:solidFill>
            <a:srgbClr val="2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3474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0" i="0">
                <a:solidFill>
                  <a:srgbClr val="ECE2D0"/>
                </a:solidFill>
                <a:latin typeface="Calibri"/>
              </a:rPr>
              <a:t>particulier  ou 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280160"/>
            <a:ext cx="11887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00" b="0" i="1">
                <a:solidFill>
                  <a:srgbClr val="A26769"/>
                </a:solidFill>
                <a:latin typeface="Calibri"/>
              </a:rPr>
              <a:t>(contrainte XOR)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2286000" cy="5303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2860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1" i="0">
                <a:solidFill>
                  <a:srgbClr val="ECE2D0"/>
                </a:solidFill>
                <a:latin typeface="Calibri"/>
              </a:rPr>
              <a:t>ligne_commande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11680"/>
            <a:ext cx="4572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0" i="0">
                <a:solidFill>
                  <a:srgbClr val="6D2E4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011680"/>
            <a:ext cx="4114800" cy="530352"/>
          </a:xfrm>
          <a:prstGeom prst="rect">
            <a:avLst/>
          </a:prstGeom>
          <a:solidFill>
            <a:srgbClr val="2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011680"/>
            <a:ext cx="41148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0" i="0">
                <a:solidFill>
                  <a:srgbClr val="ECE2D0"/>
                </a:solidFill>
                <a:latin typeface="Calibri"/>
              </a:rPr>
              <a:t>commande  +  produit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88920"/>
            <a:ext cx="2286000" cy="5303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2860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1" i="0">
                <a:solidFill>
                  <a:srgbClr val="ECE2D0"/>
                </a:solidFill>
                <a:latin typeface="Calibri"/>
              </a:rPr>
              <a:t>produit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788920"/>
            <a:ext cx="4572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0" i="0">
                <a:solidFill>
                  <a:srgbClr val="6D2E46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788920"/>
            <a:ext cx="4114800" cy="530352"/>
          </a:xfrm>
          <a:prstGeom prst="rect">
            <a:avLst/>
          </a:prstGeom>
          <a:solidFill>
            <a:srgbClr val="2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2788920"/>
            <a:ext cx="41148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0" i="0">
                <a:solidFill>
                  <a:srgbClr val="ECE2D0"/>
                </a:solidFill>
                <a:latin typeface="Calibri"/>
              </a:rPr>
              <a:t>stock_produit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2286000" cy="5303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22860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1" i="0">
                <a:solidFill>
                  <a:srgbClr val="ECE2D0"/>
                </a:solidFill>
                <a:latin typeface="Calibri"/>
              </a:rPr>
              <a:t>produit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566160"/>
            <a:ext cx="4572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0" i="0">
                <a:solidFill>
                  <a:srgbClr val="6D2E46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566160"/>
            <a:ext cx="4114800" cy="530352"/>
          </a:xfrm>
          <a:prstGeom prst="rect">
            <a:avLst/>
          </a:prstGeom>
          <a:solidFill>
            <a:srgbClr val="2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566160"/>
            <a:ext cx="411480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0" i="0">
                <a:solidFill>
                  <a:srgbClr val="ECE2D0"/>
                </a:solidFill>
                <a:latin typeface="Calibri"/>
              </a:rPr>
              <a:t>recette  →  ingredient  → 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0" i="1">
                <a:solidFill>
                  <a:srgbClr val="A26769"/>
                </a:solidFill>
                <a:latin typeface="Calibri"/>
              </a:rPr>
              <a:t>Diagramme complet disponible dans DESIGN.md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600" b="1" i="0">
                <a:solidFill>
                  <a:srgbClr val="3D1C02"/>
                </a:solidFill>
                <a:latin typeface="Trebuchet MS"/>
              </a:rPr>
              <a:t>Nos choix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886200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" cy="15087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50292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600" b="1" i="0">
                <a:solidFill>
                  <a:srgbClr val="6D2E46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3D1C02"/>
                </a:solidFill>
                <a:latin typeface="Trebuchet MS"/>
              </a:rPr>
              <a:t>Deux types de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30175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553520"/>
                </a:solidFill>
                <a:latin typeface="Calibri"/>
              </a:rPr>
              <a:t>Évite les colonnes vides dans la BDD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325880"/>
            <a:ext cx="3886200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325880"/>
            <a:ext cx="73152" cy="15087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417320"/>
            <a:ext cx="50292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600" b="1" i="0">
                <a:solidFill>
                  <a:srgbClr val="6D2E46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50876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3D1C02"/>
                </a:solidFill>
                <a:latin typeface="Trebuchet MS"/>
              </a:rPr>
              <a:t>Contrainte XOR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11680"/>
            <a:ext cx="30175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553520"/>
                </a:solidFill>
                <a:latin typeface="Calibri"/>
              </a:rPr>
              <a:t>Une commande = UN SEUL type de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3886200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73152" cy="15087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108960"/>
            <a:ext cx="50292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600" b="1" i="0">
                <a:solidFill>
                  <a:srgbClr val="6D2E46"/>
                </a:solidFill>
                <a:latin typeface="Trebuchet M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004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3D1C02"/>
                </a:solidFill>
                <a:latin typeface="Trebuchet MS"/>
              </a:rPr>
              <a:t>Deux niveaux de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03320"/>
            <a:ext cx="30175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553520"/>
                </a:solidFill>
                <a:latin typeface="Calibri"/>
              </a:rPr>
              <a:t>Ingrédients + produits finis séparés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017520"/>
            <a:ext cx="3886200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017520"/>
            <a:ext cx="73152" cy="15087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3108960"/>
            <a:ext cx="50292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600" b="1" i="0">
                <a:solidFill>
                  <a:srgbClr val="6D2E46"/>
                </a:solidFill>
                <a:latin typeface="Trebuchet M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2004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3D1C02"/>
                </a:solidFill>
                <a:latin typeface="Trebuchet MS"/>
              </a:rPr>
              <a:t>actif=0 plutôt que 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703320"/>
            <a:ext cx="30175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553520"/>
                </a:solidFill>
                <a:latin typeface="Calibri"/>
              </a:rPr>
              <a:t>Conserve l'historique des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200" b="1" i="0">
                <a:solidFill>
                  <a:srgbClr val="ECE2D0"/>
                </a:solidFill>
                <a:latin typeface="Trebuchet MS"/>
              </a:rPr>
              <a:t>Manipulation quotidienne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A26769"/>
                </a:solidFill>
                <a:latin typeface="Calibri"/>
              </a:rPr>
              <a:t>queries.sql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023360" cy="47548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0233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ECE2D0"/>
                </a:solidFill>
                <a:latin typeface="Trebuchet MS"/>
              </a:rPr>
              <a:t>INSERTIONS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38527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7490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Inscription d'un particulier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7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37490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Commande (last_insert_rowid())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52927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37490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Ajout de produits à la commande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10127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7490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Nouveau produit au catalogue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234440"/>
            <a:ext cx="4023360" cy="47548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234440"/>
            <a:ext cx="40233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ECE2D0"/>
                </a:solidFill>
                <a:latin typeface="Trebuchet MS"/>
              </a:rPr>
              <a:t>MISES À JOUR &amp; SUPPRESSIONS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938527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874519"/>
            <a:ext cx="37490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Annulation (statut = 'en attente')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395727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331720"/>
            <a:ext cx="37490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Correction quantité (sous-requête)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852927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788920"/>
            <a:ext cx="37490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Gestion stock produits finis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310127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246120"/>
            <a:ext cx="37490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Suppression ingrédient (CASCADE)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4008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3D1C02"/>
                </a:solidFill>
                <a:latin typeface="Trebuchet MS"/>
              </a:rPr>
              <a:t>Analyse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640080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0" i="0">
                <a:solidFill>
                  <a:srgbClr val="A26769"/>
                </a:solidFill>
                <a:latin typeface="Calibri"/>
              </a:rPr>
              <a:t>analysis.sql — 10 requêtes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Produits les plus vendus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SUM + GROUP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Clients qui ont le plus dépensé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21408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via vue commande_detail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05456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05456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87168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CA par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688336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strftime()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72384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72384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54096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Ingrédients en alerte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55264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vue stock_alerte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9312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39312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621024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Coût de fabrication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22192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JOIN recette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1371600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1371600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1353312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Répartition par statut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1554480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sous-requête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1938528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1938528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1920240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Particuliers vs Entreprises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2121408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panier moyen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2505456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2505456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2487168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Alertes stock produits finis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2688336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seuil minimum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3072384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3072384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054096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Vue d'ensemble deux stocks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3255264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UNION 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3639312"/>
            <a:ext cx="320040" cy="3200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3639312"/>
            <a:ext cx="320040" cy="320040"/>
          </a:xfrm>
          <a:prstGeom prst="rect">
            <a:avLst/>
          </a:prstGeom>
          <a:noFill/>
        </p:spPr>
        <p:txBody>
          <a:bodyPr wrap="square" lIns="0" tIns="0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3621024"/>
            <a:ext cx="3474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Calibri"/>
              </a:rPr>
              <a:t>Clients fidèles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3822192"/>
            <a:ext cx="3474720" cy="2011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HAVING ≥ 3 commandes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ECE2D0"/>
                </a:solidFill>
                <a:latin typeface="Trebuchet MS"/>
              </a:rPr>
              <a:t>Automatisation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36576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000" b="1" i="0">
                <a:solidFill>
                  <a:srgbClr val="ECE2D0"/>
                </a:solidFill>
                <a:latin typeface="Trebuchet MS"/>
              </a:rPr>
              <a:t>📄  report.py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Rapport mensuel automatique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31720"/>
            <a:ext cx="3383280" cy="18288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47472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→  3 fichiers CSV exportés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347472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     • CA par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9544"/>
            <a:ext cx="347472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     • Top ventes produits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57015"/>
            <a:ext cx="347472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     • État des stocks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188720"/>
            <a:ext cx="3840480" cy="3657600"/>
          </a:xfrm>
          <a:prstGeom prst="rect">
            <a:avLst/>
          </a:prstGeom>
          <a:solidFill>
            <a:srgbClr val="280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188720"/>
            <a:ext cx="54864" cy="36576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371600"/>
            <a:ext cx="3566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000" b="1" i="0">
                <a:solidFill>
                  <a:srgbClr val="ECE2D0"/>
                </a:solidFill>
                <a:latin typeface="Trebuchet MS"/>
              </a:rPr>
              <a:t>⚠️  alert_stock.py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920240"/>
            <a:ext cx="35661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Alerte stock — page 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331720"/>
            <a:ext cx="3383280" cy="1828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514600"/>
            <a:ext cx="35661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→  2 niveaux : ingrédients + produits finis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862072"/>
            <a:ext cx="35661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→  Badges colorés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209544"/>
            <a:ext cx="35661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     🔴 Rupture  |  🟠 Critique  |  🟡 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557015"/>
            <a:ext cx="35661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→  Ouvre dans le navigateur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3D1C02"/>
                </a:solidFill>
                <a:latin typeface="Trebuchet MS"/>
              </a:rPr>
              <a:t>Tableau de bord Power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749039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749039" cy="6400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3D1C02"/>
                </a:solidFill>
                <a:latin typeface="Trebuchet MS"/>
              </a:rPr>
              <a:t>📈  CA mensuel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1">
                <a:solidFill>
                  <a:srgbClr val="A26769"/>
                </a:solidFill>
                <a:latin typeface="Calibri"/>
              </a:rPr>
              <a:t>Courbe temporelle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3749039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3749039" cy="6400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463039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3D1C02"/>
                </a:solidFill>
                <a:latin typeface="Trebuchet MS"/>
              </a:rPr>
              <a:t>📊  Produits les plus vendus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057400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1">
                <a:solidFill>
                  <a:srgbClr val="A26769"/>
                </a:solidFill>
                <a:latin typeface="Calibri"/>
              </a:rPr>
              <a:t>Diagramme en barres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1" y="3063240"/>
            <a:ext cx="2606040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1" y="3063240"/>
            <a:ext cx="2606040" cy="6400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499" y="3227832"/>
            <a:ext cx="2386584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Trebuchet MS"/>
              </a:rPr>
              <a:t>🥧  Répartition par statut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99" y="3840480"/>
            <a:ext cx="2386584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Camembert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3063240"/>
            <a:ext cx="2606040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68980" y="3063240"/>
            <a:ext cx="2606040" cy="6400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8708" y="3227832"/>
            <a:ext cx="2386584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Trebuchet MS"/>
              </a:rPr>
              <a:t>🔴  Alertes stock ingrédients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8708" y="3840480"/>
            <a:ext cx="2386584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Tableau conditionnel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6188" y="3063240"/>
            <a:ext cx="2606040" cy="150876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76188" y="3063240"/>
            <a:ext cx="2606040" cy="6400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3227832"/>
            <a:ext cx="2386584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3D1C02"/>
                </a:solidFill>
                <a:latin typeface="Trebuchet MS"/>
              </a:rPr>
              <a:t>📦  Alertes stock produits finis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5916" y="3840480"/>
            <a:ext cx="2386584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Tableau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200" b="1" i="0">
                <a:solidFill>
                  <a:srgbClr val="ECE2D0"/>
                </a:solidFill>
                <a:latin typeface="Trebuchet MS"/>
              </a:rPr>
              <a:t>Simulation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77240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A26769"/>
                </a:solidFill>
                <a:latin typeface="Calibri"/>
              </a:rPr>
              <a:t>simulation.html — page web, aucune installation requise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904" y="1463040"/>
            <a:ext cx="1170432" cy="7772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463040"/>
            <a:ext cx="117043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1. Inscription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624" y="1600200"/>
            <a:ext cx="228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0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9656" y="1463040"/>
            <a:ext cx="1170432" cy="777240"/>
          </a:xfrm>
          <a:prstGeom prst="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9656" y="1463040"/>
            <a:ext cx="117043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2. Commande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1600200"/>
            <a:ext cx="228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0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463040"/>
            <a:ext cx="1170432" cy="7772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463040"/>
            <a:ext cx="117043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3. Produits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600200"/>
            <a:ext cx="228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0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463040"/>
            <a:ext cx="1170432" cy="777240"/>
          </a:xfrm>
          <a:prstGeom prst="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463040"/>
            <a:ext cx="117043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4. Préparation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600200"/>
            <a:ext cx="228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0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463040"/>
            <a:ext cx="1170432" cy="7772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463040"/>
            <a:ext cx="117043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5. Livraison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1600200"/>
            <a:ext cx="228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0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98664" y="1463040"/>
            <a:ext cx="1170432" cy="777240"/>
          </a:xfrm>
          <a:prstGeom prst="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1463040"/>
            <a:ext cx="1170432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ECE2D0"/>
                </a:solidFill>
                <a:latin typeface="Calibri"/>
              </a:rPr>
              <a:t>6. Annulation
bloquée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88920"/>
            <a:ext cx="7315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200" b="0" i="1">
                <a:solidFill>
                  <a:srgbClr val="A26769"/>
                </a:solidFill>
                <a:latin typeface="Calibri"/>
              </a:rPr>
              <a:t>Légende 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743200"/>
            <a:ext cx="201168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743200"/>
            <a:ext cx="10972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INSERT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743200"/>
            <a:ext cx="201168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73552" y="2743200"/>
            <a:ext cx="10972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UPDATE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743200"/>
            <a:ext cx="201168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9472" y="2743200"/>
            <a:ext cx="10972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Liée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743200"/>
            <a:ext cx="201168" cy="3200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2743200"/>
            <a:ext cx="10972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Consultée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2A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520440"/>
            <a:ext cx="7863840" cy="1188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La simulation guide l'utilisateur pas à pas à travers un scénario complet :
création de compte → passage de commande → livraison.
Les tentatives d'annulation hors délai sont bloquées par la contrainte 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3D1C02"/>
                </a:solidFill>
                <a:latin typeface="Trebuchet MS"/>
              </a:rPr>
              <a:t>Limitations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840480" cy="4572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840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1" i="0">
                <a:solidFill>
                  <a:srgbClr val="ECE2D0"/>
                </a:solidFill>
                <a:latin typeface="Trebuchet MS"/>
              </a:rPr>
              <a:t>⚠️  Limitations actuelles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47672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19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3D1C02"/>
                </a:solidFill>
                <a:latin typeface="Calibri"/>
              </a:rPr>
              <a:t>Pas de trigger (gestion stock manuelle)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50008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3D1C02"/>
                </a:solidFill>
                <a:latin typeface="Calibri"/>
              </a:rPr>
              <a:t>Pas de gestion des retours produits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25496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3D1C02"/>
                </a:solidFill>
                <a:latin typeface="Calibri"/>
              </a:rPr>
              <a:t>Pas d'historique des prix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73152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300984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3D1C02"/>
                </a:solidFill>
                <a:latin typeface="Calibri"/>
              </a:rPr>
              <a:t>Pas de gestion multi-utilisateurs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234440"/>
            <a:ext cx="3840480" cy="457200"/>
          </a:xfrm>
          <a:prstGeom prst="rect">
            <a:avLst/>
          </a:prstGeom>
          <a:solidFill>
            <a:srgbClr val="2D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234440"/>
            <a:ext cx="3840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500" b="1" i="0">
                <a:solidFill>
                  <a:srgbClr val="ECE2D0"/>
                </a:solidFill>
                <a:latin typeface="Trebuchet MS"/>
              </a:rPr>
              <a:t>🚀  Évolutions possibles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947672"/>
            <a:ext cx="731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1874519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3D1C02"/>
                </a:solidFill>
                <a:latin typeface="Calibri"/>
              </a:rPr>
              <a:t>Triggers SQL automatiques (stock)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423160"/>
            <a:ext cx="731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2350008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3D1C02"/>
                </a:solidFill>
                <a:latin typeface="Calibri"/>
              </a:rPr>
              <a:t>Envoi d'alertes email via smtplib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898648"/>
            <a:ext cx="731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2825496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3D1C02"/>
                </a:solidFill>
                <a:latin typeface="Calibri"/>
              </a:rPr>
              <a:t>Interface web Django / Flask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3374136"/>
            <a:ext cx="731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3300984"/>
            <a:ext cx="32918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3D1C02"/>
                </a:solidFill>
                <a:latin typeface="Calibri"/>
              </a:rPr>
              <a:t>Authentification multi-rôles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C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"/>
            <a:ext cx="914400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800" b="1" i="0">
                <a:solidFill>
                  <a:srgbClr val="ECE2D0"/>
                </a:solidFill>
                <a:latin typeface="Trebuchet MS"/>
              </a:rPr>
              <a:t>Bilan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097280"/>
            <a:ext cx="5486400" cy="54864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79" y="1325880"/>
            <a:ext cx="246888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79" y="1371600"/>
            <a:ext cx="2468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Trebuchet MS"/>
              </a:rPr>
              <a:t>9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79" y="1920240"/>
            <a:ext cx="246888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C0A890"/>
                </a:solidFill>
                <a:latin typeface="Calibri"/>
              </a:rPr>
              <a:t>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59" y="1325880"/>
            <a:ext cx="2468880" cy="914400"/>
          </a:xfrm>
          <a:prstGeom prst="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59" y="1371600"/>
            <a:ext cx="2468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Trebuchet MS"/>
              </a:rPr>
              <a:t>354 commandes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59" y="1920240"/>
            <a:ext cx="246888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C0A890"/>
                </a:solidFill>
                <a:latin typeface="Calibri"/>
              </a:rPr>
              <a:t>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246888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2468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Trebuchet MS"/>
              </a:rPr>
              <a:t>1 096 lignes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20240"/>
            <a:ext cx="246888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C0A890"/>
                </a:solidFill>
                <a:latin typeface="Calibri"/>
              </a:rPr>
              <a:t>Détail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79" y="2423160"/>
            <a:ext cx="2468880" cy="914400"/>
          </a:xfrm>
          <a:prstGeom prst="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" y="2468879"/>
            <a:ext cx="2468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Trebuchet MS"/>
              </a:rPr>
              <a:t>10 requêtes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" y="3017520"/>
            <a:ext cx="246888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C0A890"/>
                </a:solidFill>
                <a:latin typeface="Calibri"/>
              </a:rPr>
              <a:t>Analyse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59" y="2423160"/>
            <a:ext cx="246888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59" y="2468879"/>
            <a:ext cx="2468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Trebuchet MS"/>
              </a:rPr>
              <a:t>2 scripts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59" y="3017520"/>
            <a:ext cx="246888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C0A890"/>
                </a:solidFill>
                <a:latin typeface="Calibri"/>
              </a:rPr>
              <a:t>Automatisation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423160"/>
            <a:ext cx="2468880" cy="914400"/>
          </a:xfrm>
          <a:prstGeom prst="rect">
            <a:avLst/>
          </a:prstGeom>
          <a:solidFill>
            <a:srgbClr val="55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468879"/>
            <a:ext cx="2468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Trebuchet MS"/>
              </a:rPr>
              <a:t>Power BI
+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246888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0">
                <a:solidFill>
                  <a:srgbClr val="C0A890"/>
                </a:solidFill>
                <a:latin typeface="Calibri"/>
              </a:rPr>
              <a:t>Livrables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114800"/>
            <a:ext cx="91440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Trebuchet MS"/>
              </a:rPr>
              <a:t>Merci pour votre attention  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0" i="0">
                <a:solidFill>
                  <a:srgbClr val="ECE2D0"/>
                </a:solidFill>
                <a:latin typeface="Calibri"/>
              </a:rPr>
              <a:t>Venera SINANAJ &amp; Chimène NOUICER — M1 DS2E — Avril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